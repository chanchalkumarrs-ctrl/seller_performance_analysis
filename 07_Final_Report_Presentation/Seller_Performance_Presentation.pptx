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548640"/>
            <a:ext cx="1828800" cy="1828800"/>
          </a:xfrm>
          <a:prstGeom prst="ellipse">
            <a:avLst/>
          </a:prstGeom>
          <a:solidFill>
            <a:srgbClr val="1F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1920240"/>
            <a:ext cx="1005840" cy="1005840"/>
          </a:xfrm>
          <a:prstGeom prst="ellipse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2926080"/>
            <a:ext cx="685800" cy="685800"/>
          </a:xfrm>
          <a:prstGeom prst="ellipse">
            <a:avLst/>
          </a:prstGeom>
          <a:solidFill>
            <a:srgbClr val="EF6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3749039"/>
            <a:ext cx="1463040" cy="1463040"/>
          </a:xfrm>
          <a:prstGeom prst="ellipse">
            <a:avLst/>
          </a:prstGeom>
          <a:solidFill>
            <a:srgbClr val="2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777240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SELLER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47088"/>
            <a:ext cx="7589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FBEAA"/>
                </a:solidFill>
                <a:latin typeface="Aptos"/>
              </a:rPr>
              <a:t>Delivery &amp; Review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704088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0">
                <a:solidFill>
                  <a:srgbClr val="D7E1EB"/>
                </a:solidFill>
                <a:latin typeface="Aptos"/>
              </a:rPr>
              <a:t>A data analytics project to identify seller patterns linked with low ratings and delivery delays.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166360"/>
            <a:ext cx="80467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5B142"/>
                </a:solidFill>
                <a:latin typeface="Aptos"/>
              </a:rPr>
              <a:t>Built with a 15,000-row synthetic dataset • Power BI dashboard • SQL/Python-ready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97880"/>
            <a:ext cx="45720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A4B2C3"/>
                </a:solidFill>
                <a:latin typeface="Aptos"/>
              </a:rPr>
              <a:t>Project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9672"/>
            <a:ext cx="9601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A4B2C3"/>
                </a:solidFill>
                <a:latin typeface="Aptos"/>
              </a:rPr>
              <a:t>SELLER PERFORMANCE ANALYSIS  •  DATA ANALYTICS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1FBEAA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FBEAA"/>
                </a:solidFill>
                <a:latin typeface="Aptos"/>
              </a:rPr>
              <a:t>Turning seller, delivery and review data into actionable performance monitoring.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3520440" cy="1417320"/>
          </a:xfrm>
          <a:prstGeom prst="roundRect">
            <a:avLst/>
          </a:prstGeom>
          <a:solidFill>
            <a:srgbClr val="1B2B43"/>
          </a:solidFill>
          <a:ln w="15240">
            <a:solidFill>
              <a:srgbClr val="1F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764792"/>
            <a:ext cx="3118104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FBEAA"/>
                </a:solidFill>
                <a:latin typeface="Aptos"/>
              </a:rPr>
              <a:t>THE BUSINESS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167128"/>
            <a:ext cx="3118104" cy="7040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Which sellers are associated with weaker customer ratings and longer delivery times?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00200"/>
            <a:ext cx="3520440" cy="1417320"/>
          </a:xfrm>
          <a:prstGeom prst="roundRect">
            <a:avLst/>
          </a:prstGeom>
          <a:solidFill>
            <a:srgbClr val="1B2B43"/>
          </a:solidFill>
          <a:ln w="15240">
            <a:solidFill>
              <a:srgbClr val="F5B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1764792"/>
            <a:ext cx="3118104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B142"/>
                </a:solidFill>
                <a:latin typeface="Aptos"/>
              </a:rPr>
              <a:t>THE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2167128"/>
            <a:ext cx="3118104" cy="7040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15,000 synthetic records with 33 columns, prepared for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00200"/>
            <a:ext cx="3520440" cy="1417320"/>
          </a:xfrm>
          <a:prstGeom prst="roundRect">
            <a:avLst/>
          </a:prstGeom>
          <a:solidFill>
            <a:srgbClr val="1B2B43"/>
          </a:solidFill>
          <a:ln w="15240">
            <a:solidFill>
              <a:srgbClr val="EF6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764792"/>
            <a:ext cx="3118104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F6961"/>
                </a:solidFill>
                <a:latin typeface="Aptos"/>
              </a:rPr>
              <a:t>THE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2167128"/>
            <a:ext cx="3118104" cy="7040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A Power BI dashboard with seller comparisons, delivery indicators and review patterns.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703320"/>
            <a:ext cx="27432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Project workflow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1920240" cy="914400"/>
          </a:xfrm>
          <a:prstGeom prst="roundRect">
            <a:avLst/>
          </a:prstGeom>
          <a:solidFill>
            <a:srgbClr val="1B2B43"/>
          </a:solidFill>
          <a:ln>
            <a:solidFill>
              <a:srgbClr val="1F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425696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FBEAA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754880"/>
            <a:ext cx="16916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Prepare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4553712"/>
            <a:ext cx="2743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5B142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99232" y="4297680"/>
            <a:ext cx="1920240" cy="914400"/>
          </a:xfrm>
          <a:prstGeom prst="roundRect">
            <a:avLst/>
          </a:prstGeom>
          <a:solidFill>
            <a:srgbClr val="1B2B43"/>
          </a:solidFill>
          <a:ln>
            <a:solidFill>
              <a:srgbClr val="1F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4425696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FBEAA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754880"/>
            <a:ext cx="16916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Check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553712"/>
            <a:ext cx="2743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5B142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66944" y="4297680"/>
            <a:ext cx="1920240" cy="914400"/>
          </a:xfrm>
          <a:prstGeom prst="roundRect">
            <a:avLst/>
          </a:prstGeom>
          <a:solidFill>
            <a:srgbClr val="1B2B43"/>
          </a:solidFill>
          <a:ln>
            <a:solidFill>
              <a:srgbClr val="1F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76672" y="4425696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FBEAA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672" y="4754880"/>
            <a:ext cx="16916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Analyze KPIs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4553712"/>
            <a:ext cx="2743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5B142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34656" y="4297680"/>
            <a:ext cx="1920240" cy="914400"/>
          </a:xfrm>
          <a:prstGeom prst="roundRect">
            <a:avLst/>
          </a:prstGeom>
          <a:solidFill>
            <a:srgbClr val="1B2B43"/>
          </a:solidFill>
          <a:ln>
            <a:solidFill>
              <a:srgbClr val="1F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44383" y="4425696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FBEAA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44383" y="4754880"/>
            <a:ext cx="16916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Visualize patterns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3184" y="4553712"/>
            <a:ext cx="2743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5B142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02368" y="4297680"/>
            <a:ext cx="1920240" cy="914400"/>
          </a:xfrm>
          <a:prstGeom prst="roundRect">
            <a:avLst/>
          </a:prstGeom>
          <a:solidFill>
            <a:srgbClr val="1B2B43"/>
          </a:solidFill>
          <a:ln>
            <a:solidFill>
              <a:srgbClr val="1F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12096" y="4425696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FBEAA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12096" y="4754880"/>
            <a:ext cx="16916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Recommend 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519672"/>
            <a:ext cx="9601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A4B2C3"/>
                </a:solidFill>
                <a:latin typeface="Aptos"/>
              </a:rPr>
              <a:t>SELLER PERFORMANCE ANALYSIS  •  DATA ANALYTICS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1FBEAA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FBEAA"/>
                </a:solidFill>
                <a:latin typeface="Aptos"/>
              </a:rPr>
              <a:t>A seller-level view helps teams move beyond overall averages.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8288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900" b="1">
                <a:solidFill>
                  <a:srgbClr val="F5B142"/>
                </a:solidFill>
                <a:latin typeface="Aptos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4983480" cy="1371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Overall averages can hide individual sellers with repeated delivery delays or weaker review scores. The project explores how seller-level indicators can make these patterns easier to spot.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00200"/>
            <a:ext cx="18288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FBEAA"/>
                </a:solidFill>
                <a:latin typeface="Aptos"/>
              </a:rP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93392"/>
            <a:ext cx="4983480" cy="3108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Compare seller review scores and delivery performance.</a:t>
            </a:r>
          </a:p>
          <a:p>
            <a:pPr>
              <a:spcAft>
                <a:spcPts val="13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Highlight sellers with relatively high delay rates or low ratings.</a:t>
            </a:r>
          </a:p>
          <a:p>
            <a:pPr>
              <a:spcAft>
                <a:spcPts val="13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Explore whether delays and ratings move together.</a:t>
            </a:r>
          </a:p>
          <a:p>
            <a:pPr>
              <a:spcAft>
                <a:spcPts val="13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Support filtering by category, state and delivery status.</a:t>
            </a:r>
          </a:p>
          <a:p>
            <a:pPr>
              <a:spcAft>
                <a:spcPts val="13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Translate patterns into practical follow-up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00600"/>
            <a:ext cx="10698480" cy="777240"/>
          </a:xfrm>
          <a:prstGeom prst="roundRect">
            <a:avLst/>
          </a:prstGeom>
          <a:solidFill>
            <a:srgbClr val="1B2B43"/>
          </a:solidFill>
          <a:ln w="15240">
            <a:solidFill>
              <a:srgbClr val="EF6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965192"/>
            <a:ext cx="10296144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F6961"/>
                </a:solidFill>
                <a:latin typeface="Aptos"/>
              </a:rPr>
              <a:t>ANALYTICAL PRINCIPLE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5367528"/>
            <a:ext cx="10296144" cy="64007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Treat these indicators as signals for investigation—not proof that a seller caused a poor outcome.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9672"/>
            <a:ext cx="9601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A4B2C3"/>
                </a:solidFill>
                <a:latin typeface="Aptos"/>
              </a:rPr>
              <a:t>SELLER PERFORMANCE ANALYSIS  •  DATA ANALYTICS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1FBEAA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Dataset &amp;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FBEAA"/>
                </a:solidFill>
                <a:latin typeface="Aptos"/>
              </a:rPr>
              <a:t>Synthetic dataset created for learning, dashboard development and demonstration.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468880" cy="1143000"/>
          </a:xfrm>
          <a:prstGeom prst="roundRect">
            <a:avLst/>
          </a:prstGeom>
          <a:solidFill>
            <a:srgbClr val="1B2B43"/>
          </a:solidFill>
          <a:ln w="15240">
            <a:solidFill>
              <a:srgbClr val="1F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19072"/>
            <a:ext cx="2066544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FBEAA"/>
                </a:solidFill>
                <a:latin typeface="Aptos"/>
              </a:rPr>
              <a:t>15,000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21408"/>
            <a:ext cx="2066544" cy="429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Rows in the prepared 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554480"/>
            <a:ext cx="2468880" cy="1143000"/>
          </a:xfrm>
          <a:prstGeom prst="roundRect">
            <a:avLst/>
          </a:prstGeom>
          <a:solidFill>
            <a:srgbClr val="1B2B43"/>
          </a:solidFill>
          <a:ln w="15240">
            <a:solidFill>
              <a:srgbClr val="F5B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4448" y="1719072"/>
            <a:ext cx="2066544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B142"/>
                </a:solidFill>
                <a:latin typeface="Aptos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84448" y="2121408"/>
            <a:ext cx="2066544" cy="429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Columns available for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554480"/>
            <a:ext cx="2468880" cy="1143000"/>
          </a:xfrm>
          <a:prstGeom prst="roundRect">
            <a:avLst/>
          </a:prstGeom>
          <a:solidFill>
            <a:srgbClr val="1B2B43"/>
          </a:solidFill>
          <a:ln w="15240">
            <a:solidFill>
              <a:srgbClr val="EF6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7" y="1719072"/>
            <a:ext cx="2066544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F6961"/>
                </a:solidFill>
                <a:latin typeface="Aptos"/>
              </a:rPr>
              <a:t>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7" y="2121408"/>
            <a:ext cx="2066544" cy="429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Source file format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554480"/>
            <a:ext cx="2468880" cy="1143000"/>
          </a:xfrm>
          <a:prstGeom prst="roundRect">
            <a:avLst/>
          </a:prstGeom>
          <a:solidFill>
            <a:srgbClr val="1B2B43"/>
          </a:solidFill>
          <a:ln w="15240">
            <a:solidFill>
              <a:srgbClr val="5BB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87968" y="1719072"/>
            <a:ext cx="2066544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5BB382"/>
                </a:solidFill>
                <a:latin typeface="Aptos"/>
              </a:rPr>
              <a:t>BI +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2121408"/>
            <a:ext cx="2066544" cy="429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Compatible analysis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54680"/>
            <a:ext cx="3657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Example analysis fields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57600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BEAA"/>
                </a:solidFill>
                <a:latin typeface="Aptos"/>
              </a:rPr>
              <a:t>• Seller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657600"/>
            <a:ext cx="32461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DCE5EE"/>
                </a:solidFill>
                <a:latin typeface="Aptos"/>
              </a:rPr>
              <a:t>Compare performance by seller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657600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BEAA"/>
                </a:solidFill>
                <a:latin typeface="Aptos"/>
              </a:rPr>
              <a:t>• Review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657600"/>
            <a:ext cx="32461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DCE5EE"/>
                </a:solidFill>
                <a:latin typeface="Aptos"/>
              </a:rPr>
              <a:t>Assess customer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89120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BEAA"/>
                </a:solidFill>
                <a:latin typeface="Aptos"/>
              </a:rPr>
              <a:t>• Delivery dates /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4389120"/>
            <a:ext cx="32461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DCE5EE"/>
                </a:solidFill>
                <a:latin typeface="Aptos"/>
              </a:rPr>
              <a:t>Evaluate delivery timeliness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389120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BEAA"/>
                </a:solidFill>
                <a:latin typeface="Aptos"/>
              </a:rPr>
              <a:t>• Product category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389120"/>
            <a:ext cx="32461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DCE5EE"/>
                </a:solidFill>
                <a:latin typeface="Aptos"/>
              </a:rPr>
              <a:t>Check category-level differences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120640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BEAA"/>
                </a:solidFill>
                <a:latin typeface="Aptos"/>
              </a:rPr>
              <a:t>• State / location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5120640"/>
            <a:ext cx="32461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DCE5EE"/>
                </a:solidFill>
                <a:latin typeface="Aptos"/>
              </a:rPr>
              <a:t>Explore geographic patterns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120640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BEAA"/>
                </a:solidFill>
                <a:latin typeface="Aptos"/>
              </a:rPr>
              <a:t>• Price / order details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5120640"/>
            <a:ext cx="32461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DCE5EE"/>
                </a:solidFill>
                <a:latin typeface="Aptos"/>
              </a:rPr>
              <a:t>Add commercial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989320"/>
            <a:ext cx="104241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5B142"/>
                </a:solidFill>
                <a:latin typeface="Aptos"/>
              </a:rPr>
              <a:t>Note: Data is synthetic (Faker-generated); results demonstrate analysis methods and are not evidence about real sellers.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19672"/>
            <a:ext cx="9601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A4B2C3"/>
                </a:solidFill>
                <a:latin typeface="Aptos"/>
              </a:rPr>
              <a:t>SELLER PERFORMANCE ANALYSIS  •  DATA ANALYTICS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1FBEAA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Key Performance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FBEAA"/>
                </a:solidFill>
                <a:latin typeface="Aptos"/>
              </a:rPr>
              <a:t>Use consistent definitions before comparing sellers.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3474720" cy="1508760"/>
          </a:xfrm>
          <a:prstGeom prst="roundRect">
            <a:avLst/>
          </a:prstGeom>
          <a:solidFill>
            <a:srgbClr val="1B2B43"/>
          </a:solidFill>
          <a:ln w="15240">
            <a:solidFill>
              <a:srgbClr val="1F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719072"/>
            <a:ext cx="3072384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FBEAA"/>
                </a:solidFill>
                <a:latin typeface="Aptos"/>
              </a:rPr>
              <a:t>Average review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121408"/>
            <a:ext cx="3072384" cy="795527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Mean review score for orders attributed to a seller.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07992" y="1554480"/>
            <a:ext cx="3474720" cy="1508760"/>
          </a:xfrm>
          <a:prstGeom prst="roundRect">
            <a:avLst/>
          </a:prstGeom>
          <a:solidFill>
            <a:srgbClr val="1B2B43"/>
          </a:solidFill>
          <a:ln w="15240">
            <a:solidFill>
              <a:srgbClr val="EF6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59" y="1719072"/>
            <a:ext cx="3072384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F6961"/>
                </a:solidFill>
                <a:latin typeface="Aptos"/>
              </a:rPr>
              <a:t>Delay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59" y="2121408"/>
            <a:ext cx="3072384" cy="795527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Delayed orders ÷ orders with a known delivery outcome.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30183" y="1554480"/>
            <a:ext cx="3474720" cy="1508760"/>
          </a:xfrm>
          <a:prstGeom prst="roundRect">
            <a:avLst/>
          </a:prstGeom>
          <a:solidFill>
            <a:srgbClr val="1B2B43"/>
          </a:solidFill>
          <a:ln w="15240">
            <a:solidFill>
              <a:srgbClr val="5BB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1352" y="1719072"/>
            <a:ext cx="3072384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5BB382"/>
                </a:solidFill>
                <a:latin typeface="Aptos"/>
              </a:rPr>
              <a:t>On-time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2121408"/>
            <a:ext cx="3072384" cy="795527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On-time orders ÷ orders with a known delivery outcome.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0439"/>
            <a:ext cx="3474720" cy="1508760"/>
          </a:xfrm>
          <a:prstGeom prst="roundRect">
            <a:avLst/>
          </a:prstGeom>
          <a:solidFill>
            <a:srgbClr val="1B2B43"/>
          </a:solidFill>
          <a:ln w="15240">
            <a:solidFill>
              <a:srgbClr val="F5B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685031"/>
            <a:ext cx="3072384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B142"/>
                </a:solidFill>
                <a:latin typeface="Aptos"/>
              </a:rPr>
              <a:t>Average delivery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087368"/>
            <a:ext cx="3072384" cy="795527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Average elapsed time between purchase and delivery.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520439"/>
            <a:ext cx="3474720" cy="1508760"/>
          </a:xfrm>
          <a:prstGeom prst="roundRect">
            <a:avLst/>
          </a:prstGeom>
          <a:solidFill>
            <a:srgbClr val="1B2B43"/>
          </a:solidFill>
          <a:ln w="15240">
            <a:solidFill>
              <a:srgbClr val="87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59" y="3685031"/>
            <a:ext cx="3072384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879BF5"/>
                </a:solidFill>
                <a:latin typeface="Aptos"/>
              </a:rPr>
              <a:t>Order volume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4087368"/>
            <a:ext cx="3072384" cy="795527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Number of orders for the selected seller or segment.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0183" y="3520439"/>
            <a:ext cx="3474720" cy="1508760"/>
          </a:xfrm>
          <a:prstGeom prst="roundRect">
            <a:avLst/>
          </a:prstGeom>
          <a:solidFill>
            <a:srgbClr val="1B2B43"/>
          </a:solidFill>
          <a:ln w="15240">
            <a:solidFill>
              <a:srgbClr val="CF8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3685031"/>
            <a:ext cx="3072384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CF85E0"/>
                </a:solidFill>
                <a:latin typeface="Aptos"/>
              </a:rPr>
              <a:t>Low-rating share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4087368"/>
            <a:ext cx="3072384" cy="795527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Share of reviews at or below a chosen low-score threshold.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715000"/>
            <a:ext cx="1060704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5B142"/>
                </a:solidFill>
                <a:latin typeface="Aptos"/>
              </a:rPr>
              <a:t>Important: exclude missing or incomplete delivery outcomes from rate denominators, and document the chosen low-rating threshold.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19672"/>
            <a:ext cx="9601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A4B2C3"/>
                </a:solidFill>
                <a:latin typeface="Aptos"/>
              </a:rPr>
              <a:t>SELLER PERFORMANCE ANALYSIS  •  DATA ANALYTICS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1FBEAA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Dashboard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FBEAA"/>
                </a:solidFill>
                <a:latin typeface="Aptos"/>
              </a:rPr>
              <a:t>Nine visuals designed to answer the core business question.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83280" cy="960120"/>
          </a:xfrm>
          <a:prstGeom prst="roundRect">
            <a:avLst/>
          </a:prstGeom>
          <a:solidFill>
            <a:srgbClr val="1B2B43"/>
          </a:solidFill>
          <a:ln>
            <a:solidFill>
              <a:srgbClr val="1F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64207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FBEAA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1664207"/>
            <a:ext cx="24688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Seller rating ranking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508760"/>
            <a:ext cx="3383280" cy="960120"/>
          </a:xfrm>
          <a:prstGeom prst="roundRect">
            <a:avLst/>
          </a:prstGeom>
          <a:solidFill>
            <a:srgbClr val="1B2B43"/>
          </a:solidFill>
          <a:ln>
            <a:solidFill>
              <a:srgbClr val="F5B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664207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B142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76088" y="1664207"/>
            <a:ext cx="24688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Delay rate by seller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508760"/>
            <a:ext cx="3383280" cy="960120"/>
          </a:xfrm>
          <a:prstGeom prst="roundRect">
            <a:avLst/>
          </a:prstGeom>
          <a:solidFill>
            <a:srgbClr val="1B2B43"/>
          </a:solidFill>
          <a:ln>
            <a:solidFill>
              <a:srgbClr val="EF6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664207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F6961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70848" y="1664207"/>
            <a:ext cx="24688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Ratings vs. delays scatter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34639"/>
            <a:ext cx="3383280" cy="960120"/>
          </a:xfrm>
          <a:prstGeom prst="roundRect">
            <a:avLst/>
          </a:prstGeom>
          <a:solidFill>
            <a:srgbClr val="1B2B43"/>
          </a:solidFill>
          <a:ln>
            <a:solidFill>
              <a:srgbClr val="1F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990087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FBEAA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990087"/>
            <a:ext cx="24688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On-time vs. delayed split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2834639"/>
            <a:ext cx="3383280" cy="960120"/>
          </a:xfrm>
          <a:prstGeom prst="roundRect">
            <a:avLst/>
          </a:prstGeom>
          <a:solidFill>
            <a:srgbClr val="1B2B43"/>
          </a:solidFill>
          <a:ln>
            <a:solidFill>
              <a:srgbClr val="F5B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2990087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B142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2990087"/>
            <a:ext cx="24688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Lowest-rated sellers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2834639"/>
            <a:ext cx="3383280" cy="960120"/>
          </a:xfrm>
          <a:prstGeom prst="roundRect">
            <a:avLst/>
          </a:prstGeom>
          <a:solidFill>
            <a:srgbClr val="1B2B43"/>
          </a:solidFill>
          <a:ln>
            <a:solidFill>
              <a:srgbClr val="EF6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2990087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F6961"/>
                </a:solidFill>
                <a:latin typeface="Aptos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2990087"/>
            <a:ext cx="24688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Monthly delay trend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60520"/>
            <a:ext cx="3383280" cy="960120"/>
          </a:xfrm>
          <a:prstGeom prst="roundRect">
            <a:avLst/>
          </a:prstGeom>
          <a:solidFill>
            <a:srgbClr val="1B2B43"/>
          </a:solidFill>
          <a:ln>
            <a:solidFill>
              <a:srgbClr val="1F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315968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FBEAA"/>
                </a:solidFill>
                <a:latin typeface="Aptos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315968"/>
            <a:ext cx="24688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Sales by seller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4160520"/>
            <a:ext cx="3383280" cy="960120"/>
          </a:xfrm>
          <a:prstGeom prst="roundRect">
            <a:avLst/>
          </a:prstGeom>
          <a:solidFill>
            <a:srgbClr val="1B2B43"/>
          </a:solidFill>
          <a:ln>
            <a:solidFill>
              <a:srgbClr val="F5B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90872" y="4315968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B142"/>
                </a:solidFill>
                <a:latin typeface="Aptos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6088" y="4315968"/>
            <a:ext cx="24688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Ratings by category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4160520"/>
            <a:ext cx="3383280" cy="960120"/>
          </a:xfrm>
          <a:prstGeom prst="roundRect">
            <a:avLst/>
          </a:prstGeom>
          <a:solidFill>
            <a:srgbClr val="1B2B43"/>
          </a:solidFill>
          <a:ln>
            <a:solidFill>
              <a:srgbClr val="EF6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85632" y="4315968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F6961"/>
                </a:solidFill>
                <a:latin typeface="Aptos"/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0848" y="4315968"/>
            <a:ext cx="24688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Seller risk detail table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760720"/>
            <a:ext cx="104241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BEAA"/>
                </a:solidFill>
                <a:latin typeface="Aptos"/>
              </a:rPr>
              <a:t>Suggested slicers: state • product category • delivery status • date range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519672"/>
            <a:ext cx="9601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A4B2C3"/>
                </a:solidFill>
                <a:latin typeface="Aptos"/>
              </a:rPr>
              <a:t>SELLER PERFORMANCE ANALYSIS  •  DATA ANALYTICS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1FBEAA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How to Identify Sellers for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FBEAA"/>
                </a:solidFill>
                <a:latin typeface="Aptos"/>
              </a:rPr>
              <a:t>Prioritize repeatable patterns and enough order volume—not a single unusual order.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29000" cy="1828800"/>
          </a:xfrm>
          <a:prstGeom prst="roundRect">
            <a:avLst/>
          </a:prstGeom>
          <a:solidFill>
            <a:srgbClr val="1B2B43"/>
          </a:solidFill>
          <a:ln w="15240">
            <a:solidFill>
              <a:srgbClr val="EF6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19072"/>
            <a:ext cx="3026664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F6961"/>
                </a:solidFill>
                <a:latin typeface="Aptos"/>
              </a:rPr>
              <a:t>SIGNAL 1 — LOW RATINGS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21408"/>
            <a:ext cx="3026664" cy="11155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Look for sellers with lower average review scores and a meaningful number of reviews.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429000" cy="1828800"/>
          </a:xfrm>
          <a:prstGeom prst="roundRect">
            <a:avLst/>
          </a:prstGeom>
          <a:solidFill>
            <a:srgbClr val="1B2B43"/>
          </a:solidFill>
          <a:ln w="15240">
            <a:solidFill>
              <a:srgbClr val="F5B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1719072"/>
            <a:ext cx="3026664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B142"/>
                </a:solidFill>
                <a:latin typeface="Aptos"/>
              </a:rPr>
              <a:t>SIGNAL 2 — HIGH DELAYS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2121408"/>
            <a:ext cx="3026664" cy="11155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Compare delay rate alongside order volume and delivery-time trends.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429000" cy="1828800"/>
          </a:xfrm>
          <a:prstGeom prst="roundRect">
            <a:avLst/>
          </a:prstGeom>
          <a:solidFill>
            <a:srgbClr val="1B2B43"/>
          </a:solidFill>
          <a:ln w="15240">
            <a:solidFill>
              <a:srgbClr val="1F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719072"/>
            <a:ext cx="3026664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FBEAA"/>
                </a:solidFill>
                <a:latin typeface="Aptos"/>
              </a:rPr>
              <a:t>SIGNAL 3 — BOTH TOGETHER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2121408"/>
            <a:ext cx="3026664" cy="11155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Sellers appearing in both groups may be candidates for deeper operational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39"/>
            <a:ext cx="45720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Suggested investigation sequence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34840"/>
            <a:ext cx="1042416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Filter to sellers with enough orders for a fair comparison.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Check whether the pattern persists across months or categories.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Inspect the underlying orders and delivery records.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Document possible explanations before recommending action.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19672"/>
            <a:ext cx="9601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A4B2C3"/>
                </a:solidFill>
                <a:latin typeface="Aptos"/>
              </a:rPr>
              <a:t>SELLER PERFORMANCE ANALYSIS  •  DATA ANALYTICS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1FBEAA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FBEAA"/>
                </a:solidFill>
                <a:latin typeface="Aptos"/>
              </a:rPr>
              <a:t>Turn dashboard signals into a repeatable improvement process.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10469880" cy="804672"/>
          </a:xfrm>
          <a:prstGeom prst="roundRect">
            <a:avLst/>
          </a:prstGeom>
          <a:solidFill>
            <a:srgbClr val="1B2B43"/>
          </a:solidFill>
          <a:ln>
            <a:solidFill>
              <a:srgbClr val="1F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737360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FBEAA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719072"/>
            <a:ext cx="15087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Monitor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719072"/>
            <a:ext cx="7498079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DEE6EF"/>
                </a:solidFill>
                <a:latin typeface="Aptos"/>
              </a:rPr>
              <a:t>Review seller-level delay rate and low-rating share weekly.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06039"/>
            <a:ext cx="10469880" cy="804672"/>
          </a:xfrm>
          <a:prstGeom prst="roundRect">
            <a:avLst/>
          </a:prstGeom>
          <a:solidFill>
            <a:srgbClr val="1B2B43"/>
          </a:solidFill>
          <a:ln>
            <a:solidFill>
              <a:srgbClr val="F5B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788920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B142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770632"/>
            <a:ext cx="15087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Investigate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770632"/>
            <a:ext cx="7498079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DEE6EF"/>
                </a:solidFill>
                <a:latin typeface="Aptos"/>
              </a:rPr>
              <a:t>Check order-level details, carrier handoffs, stock and delivery timelines.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57600"/>
            <a:ext cx="10469880" cy="804672"/>
          </a:xfrm>
          <a:prstGeom prst="roundRect">
            <a:avLst/>
          </a:prstGeom>
          <a:solidFill>
            <a:srgbClr val="1B2B43"/>
          </a:solidFill>
          <a:ln>
            <a:solidFill>
              <a:srgbClr val="EF6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840480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F6961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822191"/>
            <a:ext cx="15087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Engage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822191"/>
            <a:ext cx="7498079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DEE6EF"/>
                </a:solidFill>
                <a:latin typeface="Aptos"/>
              </a:rPr>
              <a:t>Share evidence with sellers and agree on a practical improvement plan.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09159"/>
            <a:ext cx="10469880" cy="804672"/>
          </a:xfrm>
          <a:prstGeom prst="roundRect">
            <a:avLst/>
          </a:prstGeom>
          <a:solidFill>
            <a:srgbClr val="1B2B43"/>
          </a:solidFill>
          <a:ln>
            <a:solidFill>
              <a:srgbClr val="5BB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892040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5BB382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873751"/>
            <a:ext cx="15087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873751"/>
            <a:ext cx="7498079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DEE6EF"/>
                </a:solidFill>
                <a:latin typeface="Aptos"/>
              </a:rPr>
              <a:t>Compare KPIs before and after action, using similar time periods.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943600"/>
            <a:ext cx="102412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5B142"/>
                </a:solidFill>
                <a:latin typeface="Aptos"/>
              </a:rPr>
              <a:t>Avoid automatic penalties based on a single KPI; validate the context and allow for data quality issues.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9672"/>
            <a:ext cx="9601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A4B2C3"/>
                </a:solidFill>
                <a:latin typeface="Aptos"/>
              </a:rPr>
              <a:t>SELLER PERFORMANCE ANALYSIS  •  DATA ANALYTICS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1FBEAA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31520"/>
            <a:ext cx="3657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FBEAA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9784080" cy="6858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A clearer view of seller performance.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9509760" cy="11887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900" b="0">
                <a:solidFill>
                  <a:srgbClr val="DAE3ED"/>
                </a:solidFill>
                <a:latin typeface="Aptos"/>
              </a:rPr>
              <a:t>This project brings review scores, delivery outcomes and seller-level comparisons into one analytical workflow. The dashboard is designed to help teams identify patterns, investigate potential issues and track improvement over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3246120" cy="1143000"/>
          </a:xfrm>
          <a:prstGeom prst="roundRect">
            <a:avLst/>
          </a:prstGeom>
          <a:solidFill>
            <a:srgbClr val="1B2B43"/>
          </a:solidFill>
          <a:ln w="15240">
            <a:solidFill>
              <a:srgbClr val="1F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4325112"/>
            <a:ext cx="2843784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FBEAA"/>
                </a:solidFill>
                <a:latin typeface="Aptos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4727448"/>
            <a:ext cx="2843784" cy="429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15,000 synthetic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4160520"/>
            <a:ext cx="3246120" cy="1143000"/>
          </a:xfrm>
          <a:prstGeom prst="roundRect">
            <a:avLst/>
          </a:prstGeom>
          <a:solidFill>
            <a:srgbClr val="1B2B43"/>
          </a:solidFill>
          <a:ln w="15240">
            <a:solidFill>
              <a:srgbClr val="F5B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7" y="4325112"/>
            <a:ext cx="2843784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5B142"/>
                </a:solidFill>
                <a:latin typeface="Aptos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4727448"/>
            <a:ext cx="2843784" cy="429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Power BI • SQL • Python-ready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160520"/>
            <a:ext cx="3246120" cy="1143000"/>
          </a:xfrm>
          <a:prstGeom prst="roundRect">
            <a:avLst/>
          </a:prstGeom>
          <a:solidFill>
            <a:srgbClr val="1B2B43"/>
          </a:solidFill>
          <a:ln w="15240">
            <a:solidFill>
              <a:srgbClr val="EF6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4325112"/>
            <a:ext cx="2843784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F6961"/>
                </a:solidFill>
                <a:latin typeface="Aptos"/>
              </a:rPr>
              <a:t>NEXT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4727448"/>
            <a:ext cx="2843784" cy="4297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Validate patterns with real operational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97880"/>
            <a:ext cx="274320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FBEAA"/>
                </a:solidFill>
                <a:latin typeface="Aptos"/>
              </a:rP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19672"/>
            <a:ext cx="96012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A4B2C3"/>
                </a:solidFill>
                <a:latin typeface="Aptos"/>
              </a:rPr>
              <a:t>SELLER PERFORMANCE ANALYSIS  •  DATA ANALYTICS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1FBEAA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